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CDF1FFE2-7EEC-412C-802C-6711DEB0A98D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6B00E365-854E-4DD7-A3B8-9E56379337C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要件定義書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家計簿アプリ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資産の流れを一元管理できるアプリ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747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Ver. 1.1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34640" y="3474720"/>
            <a:ext cx="32004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4747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🆕 第2通貨・月利・グラフ追加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2025年  個人開発プロジェクト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E3F6E"/>
          </a:solidFill>
          <a:ln w="12700">
            <a:solidFill>
              <a:srgbClr val="2D5A9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9728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355080" y="16916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現金管理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0972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16916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第2通貨対応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697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貯蓄口座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69748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8952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E6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グラフ画面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プロジェクト概要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コンセプト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現金・預金・外貨を一元管理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複数口座に対応（財布・普通・貯蓄・外貨）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第2通貨をホームに常時表示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貯蓄口座の月利・利息を自動計算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口座間の振替機能（収支計上なし）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将来的にFirebase同期対応予定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887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使用技術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83480" y="187452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92024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Flutter / Dart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2860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クロスプラットフォームUI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288036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92608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32918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オフライン対応ローカルDB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388620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393192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42976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将来的にクラウド同期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対応通貨 ＆ 口座タイプ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22860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28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🆕 Ver.1.1 変更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対応通貨（GDP上位10か国）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63677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87452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日本円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655064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331720" y="1600200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04872" y="163677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04872" y="187452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米ドル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16550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CFB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第2例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2258568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9514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EUR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253288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ユーロ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1720" y="2258568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229514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GBP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04872" y="253288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英ポンド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916936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953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19125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豪ドル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31720" y="2916936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04872" y="2953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04872" y="319125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加ドル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575304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61188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CNY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" y="384962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人民元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31720" y="3575304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04872" y="361188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04872" y="384962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インドルピー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233672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27024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KRW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" y="45079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韓国ウォン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31720" y="4233672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04872" y="427024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CHF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404872" y="45079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スイスフラン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5047488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507492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🆕 第2通貨ルール（Ver.1.1）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532180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通貨は「第1」＋「第2通貨」の2つのみ選択可 ／ アプリを開くたびに最新レートで再計算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口座タイプ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754880" y="16002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92040" y="1728216"/>
            <a:ext cx="457200" cy="457200"/>
          </a:xfrm>
          <a:prstGeom prst="ellipse">
            <a:avLst/>
          </a:prstGeom>
          <a:solidFill>
            <a:srgbClr val="EBF8FF"/>
          </a:solidFill>
          <a:ln w="12700">
            <a:solidFill>
              <a:srgbClr val="BAE6FD"/>
            </a:solidFill>
            <a:prstDash val="solid"/>
          </a:ln>
        </p:spPr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792224"/>
            <a:ext cx="329184" cy="329184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440680" y="167335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財布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440680" y="19842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現金管理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0" y="24688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892040" y="2596896"/>
            <a:ext cx="457200" cy="457200"/>
          </a:xfrm>
          <a:prstGeom prst="ellipse">
            <a:avLst/>
          </a:prstGeom>
          <a:solidFill>
            <a:srgbClr val="EBF8FF"/>
          </a:solidFill>
          <a:ln w="12700">
            <a:solidFill>
              <a:srgbClr val="BAE6FD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660904"/>
            <a:ext cx="329184" cy="329184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5440680" y="254203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普通口座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5440680" y="285292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銀行の普通預金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4754880" y="33375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0"/>
          <p:cNvSpPr/>
          <p:nvPr/>
        </p:nvSpPr>
        <p:spPr>
          <a:xfrm>
            <a:off x="4892040" y="3465576"/>
            <a:ext cx="457200" cy="457200"/>
          </a:xfrm>
          <a:prstGeom prst="ellipse">
            <a:avLst/>
          </a:prstGeom>
          <a:solidFill>
            <a:srgbClr val="EBF8FF"/>
          </a:solidFill>
          <a:ln w="12700">
            <a:solidFill>
              <a:srgbClr val="BAE6FD"/>
            </a:solidFill>
            <a:prstDash val="solid"/>
          </a:ln>
        </p:spPr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529584"/>
            <a:ext cx="329184" cy="329184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5440680" y="341071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貯蓄口座</a:t>
            </a:r>
            <a:endParaRPr lang="en-US" sz="1300" dirty="0"/>
          </a:p>
        </p:txBody>
      </p:sp>
      <p:sp>
        <p:nvSpPr>
          <p:cNvPr id="57" name="Shape 52"/>
          <p:cNvSpPr/>
          <p:nvPr/>
        </p:nvSpPr>
        <p:spPr>
          <a:xfrm>
            <a:off x="8046720" y="341071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046720" y="3410712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月利変更</a:t>
            </a:r>
            <a:endParaRPr lang="en-US" sz="700" dirty="0"/>
          </a:p>
        </p:txBody>
      </p:sp>
      <p:sp>
        <p:nvSpPr>
          <p:cNvPr id="59" name="Text 54"/>
          <p:cNvSpPr/>
          <p:nvPr/>
        </p:nvSpPr>
        <p:spPr>
          <a:xfrm>
            <a:off x="5440680" y="37216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月利・利息自動計算あり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4754880" y="42062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6"/>
          <p:cNvSpPr/>
          <p:nvPr/>
        </p:nvSpPr>
        <p:spPr>
          <a:xfrm>
            <a:off x="4892040" y="4334256"/>
            <a:ext cx="457200" cy="457200"/>
          </a:xfrm>
          <a:prstGeom prst="ellipse">
            <a:avLst/>
          </a:prstGeom>
          <a:solidFill>
            <a:srgbClr val="EBF8FF"/>
          </a:solidFill>
          <a:ln w="12700">
            <a:solidFill>
              <a:srgbClr val="BAE6FD"/>
            </a:solidFill>
            <a:prstDash val="solid"/>
          </a:ln>
        </p:spPr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4398264"/>
            <a:ext cx="329184" cy="329184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5440680" y="427939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外貨口座</a:t>
            </a:r>
            <a:endParaRPr lang="en-US" sz="1300" dirty="0"/>
          </a:p>
        </p:txBody>
      </p:sp>
      <p:sp>
        <p:nvSpPr>
          <p:cNvPr id="64" name="Text 58"/>
          <p:cNvSpPr/>
          <p:nvPr/>
        </p:nvSpPr>
        <p:spPr>
          <a:xfrm>
            <a:off x="5440680" y="459028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複数通貨に対応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機能一覧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22860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28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🆕 Ver.1.1 変更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4300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161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21615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収入登録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2608" y="1837944"/>
            <a:ext cx="187452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金額・日付・メモを記録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収入先口座を指定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例：給料 → 貯蓄口座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95728" y="114300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95728" y="114300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21615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52928" y="121615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支出登録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487168" y="1837944"/>
            <a:ext cx="187452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金額・日付・カテゴリ・メモ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支払口座を指定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例：食費・交通費 etc.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90288" y="114300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90288" y="114300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161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47488" y="121615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振替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681728" y="1837944"/>
            <a:ext cx="187452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口座間の資金移動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収支には計上しない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例：普通口座 → 貯蓄口座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84848" y="114300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84848" y="114300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2161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42048" y="121615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利息自動計算（月利）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927848" y="1618488"/>
            <a:ext cx="86868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927848" y="161848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月利に変更</a:t>
            </a:r>
            <a:endParaRPr lang="en-US" sz="650" dirty="0"/>
          </a:p>
        </p:txBody>
      </p:sp>
      <p:sp>
        <p:nvSpPr>
          <p:cNvPr id="27" name="Text 21"/>
          <p:cNvSpPr/>
          <p:nvPr/>
        </p:nvSpPr>
        <p:spPr>
          <a:xfrm>
            <a:off x="6876288" y="1837944"/>
            <a:ext cx="187452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月利・付与日を設定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設定日に自動で残高更新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履歴に「利息 +○○円」追加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201168" y="30632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01168" y="306324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136392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8368" y="313639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ホーム画面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344168" y="3538728"/>
            <a:ext cx="86868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1344168" y="353872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第2通貨追加</a:t>
            </a:r>
            <a:endParaRPr lang="en-US" sz="650" dirty="0"/>
          </a:p>
        </p:txBody>
      </p:sp>
      <p:sp>
        <p:nvSpPr>
          <p:cNvPr id="34" name="Text 27"/>
          <p:cNvSpPr/>
          <p:nvPr/>
        </p:nvSpPr>
        <p:spPr>
          <a:xfrm>
            <a:off x="292608" y="3758184"/>
            <a:ext cx="187452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第1通貨での総資産表示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第2通貨での換算表示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口座別残高一覧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395728" y="30632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395728" y="306324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3136392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852928" y="313639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取引履歴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2487168" y="3758184"/>
            <a:ext cx="187452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収入・支出・振替・利息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カテゴリ別フィルタ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日付順ソート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590288" y="30632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590288" y="306324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136392"/>
            <a:ext cx="310896" cy="31089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047488" y="313639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グラフ画面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5733288" y="3538728"/>
            <a:ext cx="86868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5733288" y="353872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🆕 新規追加</a:t>
            </a:r>
            <a:endParaRPr lang="en-US" sz="650" dirty="0"/>
          </a:p>
        </p:txBody>
      </p:sp>
      <p:sp>
        <p:nvSpPr>
          <p:cNvPr id="46" name="Text 37"/>
          <p:cNvSpPr/>
          <p:nvPr/>
        </p:nvSpPr>
        <p:spPr>
          <a:xfrm>
            <a:off x="4681728" y="3758184"/>
            <a:ext cx="187452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今月収支の折れ線グラフ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縦棒グラフ（先月比較）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月次サマリー表示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6784848" y="30632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784848" y="306324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136392"/>
            <a:ext cx="310896" cy="31089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7242048" y="313639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第2通貨設定</a:t>
            </a:r>
            <a:endParaRPr lang="en-US" sz="950" dirty="0"/>
          </a:p>
        </p:txBody>
      </p:sp>
      <p:sp>
        <p:nvSpPr>
          <p:cNvPr id="51" name="Shape 41"/>
          <p:cNvSpPr/>
          <p:nvPr/>
        </p:nvSpPr>
        <p:spPr>
          <a:xfrm>
            <a:off x="7927848" y="3538728"/>
            <a:ext cx="86868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7927848" y="353872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🆕 新規追加</a:t>
            </a:r>
            <a:endParaRPr lang="en-US" sz="650" dirty="0"/>
          </a:p>
        </p:txBody>
      </p:sp>
      <p:sp>
        <p:nvSpPr>
          <p:cNvPr id="53" name="Text 43"/>
          <p:cNvSpPr/>
          <p:nvPr/>
        </p:nvSpPr>
        <p:spPr>
          <a:xfrm>
            <a:off x="6876288" y="3758184"/>
            <a:ext cx="1874520" cy="941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第1通貨 ＋ 第2通貨の2択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アプリ起動時に自動レート取得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ホームに常時換算表示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貯蓄口座 ＆ 利息機能の詳細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22860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28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🆕 Ver.1.1 変更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貯蓄口座の設定項目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739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3911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例：マイ貯蓄口座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2374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月利（%）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52374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5237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変更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例：0.2%（月）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36976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735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利息付与日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3872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例：毎月25日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986784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2336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利率変更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途中変更に対応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143000"/>
            <a:ext cx="4206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126187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利息付与フロー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755648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86537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利息付与日に自動実行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2258568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468880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57860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元金 × 月利 を計算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2578608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2578608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変更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675120" y="2971800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182112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918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残高に利息を自動加算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3685032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895344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00507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履歴に「利息 +○○円」追加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4626864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66344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例）¥500,000 × 0.2% ＝ 利息 ¥1,000 / 月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画面構成 ＆ 開発ロードマップ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22860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28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🆕 Ver.1.1 変更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主要画面一覧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655064"/>
            <a:ext cx="310896" cy="310896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5506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60934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総資産・第2通貨換算・口座一覧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30552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212848"/>
            <a:ext cx="310896" cy="310896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128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671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取引登録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386584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収入・支出・振替の登録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2770632"/>
            <a:ext cx="310896" cy="310896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70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272491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口座詳細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94436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残高・取引履歴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332841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3284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28269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口座設定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3291840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91840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変更/新規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14400" y="350215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月利・付与日の設定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803904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" y="388620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8862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84048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通貨設定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3849624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849624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変更/新規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914400" y="4059936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第1通貨＋第2通貨の選択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361688"/>
            <a:ext cx="3931920" cy="475488"/>
          </a:xfrm>
          <a:prstGeom prst="roundRect">
            <a:avLst>
              <a:gd name="adj" fmla="val 13462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" y="4443984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4439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439826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グラフ画面 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29000" y="4407408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440740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変更/新規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914400" y="461772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折れ線・縦棒・先月比較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1143000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開発ロードマップ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0" y="1572768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09160" y="163677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1  MVP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54880" y="1956816"/>
            <a:ext cx="384048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収入・支出・振替登録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口座管理（4種）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ホーム画面・履歴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779776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09160" y="284378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2  貯蓄・通貨強化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54880" y="3163824"/>
            <a:ext cx="384048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月利自動計算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第2通貨表示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グラフ画面（折れ線・縦棒）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0" y="3986784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09160" y="4050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3  将来候補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54880" y="4370832"/>
            <a:ext cx="3840480" cy="612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株・ETF・投資信託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仮想通貨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Firebase同期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データ設計（概要）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22860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28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🆕 Ver.1.1 変更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EE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accounts（口座）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73736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16712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59689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3026664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currency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345643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balance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858768"/>
            <a:ext cx="2560320" cy="329184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88620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interest_rate（月利）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" y="43159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interest_date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18872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18872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EE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28016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transactions（取引）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0712" y="173736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0712" y="2104263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type（収入/支出/振替/利息）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16427" y="241401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amount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10712" y="2700909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10712" y="298780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category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10712" y="329184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10712" y="3533013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account_id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18872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18872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EE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28016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currencies（通貨）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91072" y="173736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code（JPY等）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91072" y="216712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name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91072" y="2596896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symbol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91072" y="3026664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is_home（第1通貨フラグ）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429000"/>
            <a:ext cx="2560320" cy="329184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345643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is_second（第2通貨フラグ）🆕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84632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8737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※ 詳細なER図・テーブル設計は次フェーズで別途作成予定　／　interest_rate は年利から月利へ変更</a:t>
            </a:r>
            <a:endParaRPr lang="en-US" sz="950" dirty="0"/>
          </a:p>
        </p:txBody>
      </p:sp>
      <p:sp>
        <p:nvSpPr>
          <p:cNvPr id="39" name="Text 24"/>
          <p:cNvSpPr/>
          <p:nvPr/>
        </p:nvSpPr>
        <p:spPr>
          <a:xfrm>
            <a:off x="3410712" y="377367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950" dirty="0">
                <a:highlight>
                  <a:srgbClr val="FFFF00"/>
                </a:highlight>
              </a:rPr>
              <a:t>from_account_id</a:t>
            </a:r>
            <a:endParaRPr lang="en-US" sz="950" dirty="0">
              <a:highlight>
                <a:srgbClr val="FFFF00"/>
              </a:highlight>
            </a:endParaRPr>
          </a:p>
        </p:txBody>
      </p:sp>
      <p:sp>
        <p:nvSpPr>
          <p:cNvPr id="40" name="Text 24"/>
          <p:cNvSpPr/>
          <p:nvPr/>
        </p:nvSpPr>
        <p:spPr>
          <a:xfrm>
            <a:off x="3410712" y="4019423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950" dirty="0">
                <a:highlight>
                  <a:srgbClr val="FFFF00"/>
                </a:highlight>
              </a:rPr>
              <a:t>to_account_id</a:t>
            </a:r>
            <a:endParaRPr lang="en-US" sz="950" dirty="0">
              <a:highlight>
                <a:srgbClr val="FFFF00"/>
              </a:highlight>
            </a:endParaRPr>
          </a:p>
        </p:txBody>
      </p:sp>
      <p:sp>
        <p:nvSpPr>
          <p:cNvPr id="41" name="Text 24"/>
          <p:cNvSpPr/>
          <p:nvPr/>
        </p:nvSpPr>
        <p:spPr>
          <a:xfrm>
            <a:off x="4354195" y="3676650"/>
            <a:ext cx="1775460" cy="46418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950" dirty="0">
                <a:highlight>
                  <a:srgbClr val="FFFF00"/>
                </a:highlight>
              </a:rPr>
              <a:t>1.1</a:t>
            </a:r>
            <a:r>
              <a:rPr lang="ja-JP" altLang="en-US" sz="950" dirty="0">
                <a:highlight>
                  <a:srgbClr val="FFFF00"/>
                </a:highlight>
              </a:rPr>
              <a:t>追加</a:t>
            </a:r>
            <a:r>
              <a:rPr lang="en-US" altLang="ja-JP" sz="950" dirty="0">
                <a:highlight>
                  <a:srgbClr val="FFFF00"/>
                </a:highlight>
              </a:rPr>
              <a:t>:</a:t>
            </a:r>
            <a:endParaRPr lang="en-US" altLang="ja-JP" sz="95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sz="950" dirty="0">
                <a:highlight>
                  <a:srgbClr val="FFFF00"/>
                </a:highlight>
              </a:rPr>
              <a:t>現金を銀行に入れた場合の対応</a:t>
            </a:r>
            <a:endParaRPr lang="ja-JP" altLang="en-US" sz="95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25880" y="164592"/>
            <a:ext cx="7498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グラフ画面 仕様詳細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 折れ線グラフ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764792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9222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表示内容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1965960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今月の収入・支出の日次累計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9514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" y="2468880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日付（1日〜月末）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770632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79806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" y="2971800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金額（第1通貨）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273552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30098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" y="3474720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収入（緑）/ 支出（赤）の2本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776472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80390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インタラクション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3977640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タップで日次金額をツールチップ表示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143000"/>
            <a:ext cx="4206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14300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14300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縦棒グラフ（先月比較）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1764792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79222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表示内容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28032" y="196596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今月 vs 先月の収入・支出比較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267712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29514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28032" y="24688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今月 / 先月（2グループ）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770632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79806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Y軸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28032" y="297180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金額（第1通貨）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273552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30098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3474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収入（緑）/ 支出（赤）の2本棒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776472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80390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サマリー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28032" y="39776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先月比 ±○○円・±○○% を上部に表示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5720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6177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共通仕様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4892040"/>
            <a:ext cx="8229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フィルタ：口座別・全口座集計を切替可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期間：当月固定（月次ビュー）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使用ライブラリ：fl_chart（Flutter）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次の設計ステップ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3F6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1945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208" y="260604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画面一覧・画面遷移図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2953512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グラフ画面・第2通貨設定を含む全画面遷移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3F6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21945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01568" y="260604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データベース設計（ER図）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2953512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月利・第2通貨フラグを反映したテーブル設計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3F6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21945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81928" y="260604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テーブル設計書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2953512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各カラムの型・制約・デフォルト値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00200" y="35204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3F6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9928" y="36118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09928" y="402336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Flutterディレクトリ構成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09928" y="4370832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feature-firstアーキテクチャの検討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3F6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6118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90288" y="402336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MVP機能一覧確定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0288" y="4370832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優先度・工数見積もりとスプリント計画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2052</Words>
  <Application>WPS Presentation</Application>
  <PresentationFormat>On-screen Show (16:9)</PresentationFormat>
  <Paragraphs>430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ＭＳ Ｐゴシック</vt:lpstr>
      <vt:lpstr>Wingdings</vt:lpstr>
      <vt:lpstr>Arial</vt:lpstr>
      <vt:lpstr>Arial</vt:lpstr>
      <vt:lpstr>Cambria</vt:lpstr>
      <vt:lpstr>Cambria</vt:lpstr>
      <vt:lpstr>Cambria</vt:lpstr>
      <vt:lpstr>SimSun</vt:lpstr>
      <vt:lpstr>Calibri</vt:lpstr>
      <vt:lpstr>ＭＳ Ｐゴシック</vt:lpstr>
      <vt:lpstr>Microsoft YaHei</vt:lpstr>
      <vt:lpstr>Arial Unicode MS</vt:lpstr>
      <vt:lpstr>游ゴシック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家計簿アプリ 要件定義書 Ver.1.1</dc:title>
  <dc:creator>PptxGenJS</dc:creator>
  <dc:subject>PptxGenJS Presentation</dc:subject>
  <cp:lastModifiedBy>User</cp:lastModifiedBy>
  <cp:revision>6</cp:revision>
  <dcterms:created xsi:type="dcterms:W3CDTF">2026-06-27T08:06:00Z</dcterms:created>
  <dcterms:modified xsi:type="dcterms:W3CDTF">2026-06-29T00:56:34Z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9EBAB95D68CA4523B032FC8DD882CF61</vt:lpwstr>
  </property>
  <property fmtid="{D5CDD505-2E9C-101B-9397-08002B2CF9AE}" pid="3" name="KSOProductBuildVer">
    <vt:lpwstr>1041-11.2.0.10721</vt:lpwstr>
  </property>
</Properties>
</file>